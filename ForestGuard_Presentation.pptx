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 sanka" userId="adb74a14f0bf83b9" providerId="LiveId" clId="{79A1E70E-C586-425B-8E02-AE00CCE56068}"/>
    <pc:docChg chg="modSld">
      <pc:chgData name="varshith sanka" userId="adb74a14f0bf83b9" providerId="LiveId" clId="{79A1E70E-C586-425B-8E02-AE00CCE56068}" dt="2026-08-30T20:33:11.897" v="11" actId="20577"/>
      <pc:docMkLst>
        <pc:docMk/>
      </pc:docMkLst>
      <pc:sldChg chg="modSp mod">
        <pc:chgData name="varshith sanka" userId="adb74a14f0bf83b9" providerId="LiveId" clId="{79A1E70E-C586-425B-8E02-AE00CCE56068}" dt="2026-08-30T20:33:11.897" v="11" actId="20577"/>
        <pc:sldMkLst>
          <pc:docMk/>
          <pc:sldMk cId="0" sldId="256"/>
        </pc:sldMkLst>
        <pc:spChg chg="mod">
          <ac:chgData name="varshith sanka" userId="adb74a14f0bf83b9" providerId="LiveId" clId="{79A1E70E-C586-425B-8E02-AE00CCE56068}" dt="2026-08-30T20:33:11.897" v="1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274320"/>
            <a:ext cx="5029200" cy="5029200"/>
          </a:xfrm>
          <a:prstGeom prst="ellipse">
            <a:avLst/>
          </a:prstGeom>
          <a:solidFill>
            <a:srgbClr val="225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3474720"/>
            <a:ext cx="2926080" cy="2926080"/>
          </a:xfrm>
          <a:prstGeom prst="ellipse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2926080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IoT + AI FOREST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Forest</a:t>
            </a:r>
            <a:r>
              <a:rPr lang="en-IN" sz="6000" b="1" i="0">
                <a:solidFill>
                  <a:srgbClr val="FFFFFF"/>
                </a:solidFill>
              </a:rPr>
              <a:t> Beacon</a:t>
            </a:r>
            <a:endParaRPr sz="60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>
                <a:solidFill>
                  <a:srgbClr val="A5D6A7"/>
                </a:solidFill>
              </a:rPr>
              <a:t>AI-Powered Deforestation
Detection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9977"/>
                </a:solidFill>
              </a:rPr>
              <a:t>Real-time chainsaw detection · Alert system · IoT device mapping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FCA7F-DA12-84A6-4580-571BFF95E56A}"/>
              </a:ext>
            </a:extLst>
          </p:cNvPr>
          <p:cNvSpPr txBox="1"/>
          <p:nvPr/>
        </p:nvSpPr>
        <p:spPr>
          <a:xfrm>
            <a:off x="5597504" y="4376092"/>
            <a:ext cx="7315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A5D6A7"/>
                </a:solidFill>
              </a:rPr>
              <a:t>Sanka Hema Naga Sri Varshith(230150023)</a:t>
            </a:r>
          </a:p>
          <a:p>
            <a:pPr algn="l"/>
            <a:r>
              <a:rPr lang="en-US" sz="1600" b="0" i="0" dirty="0" err="1">
                <a:solidFill>
                  <a:srgbClr val="A5D6A7"/>
                </a:solidFill>
              </a:rPr>
              <a:t>Mogali</a:t>
            </a:r>
            <a:r>
              <a:rPr lang="en-US" sz="1600" b="0" i="0" dirty="0">
                <a:solidFill>
                  <a:srgbClr val="A5D6A7"/>
                </a:solidFill>
              </a:rPr>
              <a:t> </a:t>
            </a:r>
            <a:r>
              <a:rPr lang="en-US" sz="1600" dirty="0">
                <a:solidFill>
                  <a:srgbClr val="A5D6A7"/>
                </a:solidFill>
              </a:rPr>
              <a:t>P</a:t>
            </a:r>
            <a:r>
              <a:rPr lang="en-US" sz="1600" b="0" i="0" dirty="0">
                <a:solidFill>
                  <a:srgbClr val="A5D6A7"/>
                </a:solidFill>
              </a:rPr>
              <a:t>ranav Kumar </a:t>
            </a:r>
            <a:r>
              <a:rPr lang="en-US" sz="1600" dirty="0">
                <a:solidFill>
                  <a:srgbClr val="A5D6A7"/>
                </a:solidFill>
              </a:rPr>
              <a:t>R</a:t>
            </a:r>
            <a:r>
              <a:rPr lang="en-US" sz="1600" b="0" i="0" dirty="0">
                <a:solidFill>
                  <a:srgbClr val="A5D6A7"/>
                </a:solidFill>
              </a:rPr>
              <a:t>eddy(230150016)</a:t>
            </a:r>
          </a:p>
          <a:p>
            <a:pPr algn="l"/>
            <a:r>
              <a:rPr lang="en-US" sz="1600" b="0" i="0" dirty="0">
                <a:solidFill>
                  <a:srgbClr val="A5D6A7"/>
                </a:solidFill>
              </a:rPr>
              <a:t>Madam Abhiram(230150015)</a:t>
            </a:r>
          </a:p>
          <a:p>
            <a:pPr algn="l"/>
            <a:r>
              <a:rPr lang="en-US" sz="1600" b="0" i="0" dirty="0">
                <a:solidFill>
                  <a:srgbClr val="A5D6A7"/>
                </a:solidFill>
              </a:rPr>
              <a:t>Bandi </a:t>
            </a:r>
            <a:r>
              <a:rPr lang="en-US" sz="1600" dirty="0">
                <a:solidFill>
                  <a:srgbClr val="A5D6A7"/>
                </a:solidFill>
              </a:rPr>
              <a:t>K</a:t>
            </a:r>
            <a:r>
              <a:rPr lang="en-US" sz="1600" b="0" i="0" dirty="0">
                <a:solidFill>
                  <a:srgbClr val="A5D6A7"/>
                </a:solidFill>
              </a:rPr>
              <a:t>esav Sai Kalyan Ram(230150005) </a:t>
            </a:r>
            <a:endParaRPr sz="1600" b="0" i="0" dirty="0">
              <a:solidFill>
                <a:srgbClr val="A5D6A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End-to-End Pipeline — From Forest Floor to Alert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49039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50292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🌲  IoT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7373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2A"/>
                </a:solidFill>
              </a:rPr>
              <a:t>ESP32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40280"/>
            <a:ext cx="3429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5A6A5A"/>
                </a:solidFill>
              </a:rPr>
              <a:t>• Passive listening mode</a:t>
            </a:r>
          </a:p>
          <a:p>
            <a:r>
              <a:rPr sz="2000" b="0" dirty="0">
                <a:solidFill>
                  <a:srgbClr val="5A6A5A"/>
                </a:solidFill>
              </a:rPr>
              <a:t>• Loud sound → </a:t>
            </a:r>
            <a:r>
              <a:rPr lang="en-US" sz="2000" dirty="0">
                <a:solidFill>
                  <a:srgbClr val="5A6A5A"/>
                </a:solidFill>
              </a:rPr>
              <a:t>5</a:t>
            </a:r>
            <a:r>
              <a:rPr sz="2000" b="0" dirty="0">
                <a:solidFill>
                  <a:srgbClr val="5A6A5A"/>
                </a:solidFill>
              </a:rPr>
              <a:t>s clip recorded</a:t>
            </a:r>
          </a:p>
          <a:p>
            <a:r>
              <a:rPr sz="2000" b="0" dirty="0">
                <a:solidFill>
                  <a:srgbClr val="5A6A5A"/>
                </a:solidFill>
              </a:rPr>
              <a:t>• Suspicion check on </a:t>
            </a:r>
            <a:r>
              <a:rPr lang="en-US" sz="2000" dirty="0">
                <a:solidFill>
                  <a:srgbClr val="5A6A5A"/>
                </a:solidFill>
              </a:rPr>
              <a:t>5</a:t>
            </a:r>
            <a:r>
              <a:rPr sz="2000" b="0" dirty="0">
                <a:solidFill>
                  <a:srgbClr val="5A6A5A"/>
                </a:solidFill>
              </a:rPr>
              <a:t>s clip</a:t>
            </a:r>
          </a:p>
          <a:p>
            <a:r>
              <a:rPr sz="2000" b="0" dirty="0">
                <a:solidFill>
                  <a:srgbClr val="5A6A5A"/>
                </a:solidFill>
              </a:rPr>
              <a:t>• Pass? → </a:t>
            </a:r>
            <a:r>
              <a:rPr lang="en-IN" sz="2000" dirty="0">
                <a:solidFill>
                  <a:srgbClr val="5A6A5A"/>
                </a:solidFill>
              </a:rPr>
              <a:t>captured</a:t>
            </a:r>
            <a:r>
              <a:rPr sz="2000" b="0" dirty="0">
                <a:solidFill>
                  <a:srgbClr val="5A6A5A"/>
                </a:solidFill>
              </a:rPr>
              <a:t> </a:t>
            </a:r>
            <a:r>
              <a:rPr lang="en-US" sz="2000" dirty="0">
                <a:solidFill>
                  <a:srgbClr val="5A6A5A"/>
                </a:solidFill>
              </a:rPr>
              <a:t>5</a:t>
            </a:r>
            <a:r>
              <a:rPr sz="2000" b="0" dirty="0">
                <a:solidFill>
                  <a:srgbClr val="5A6A5A"/>
                </a:solidFill>
              </a:rPr>
              <a:t>s clip</a:t>
            </a:r>
          </a:p>
          <a:p>
            <a:r>
              <a:rPr sz="2000" b="0" dirty="0">
                <a:solidFill>
                  <a:srgbClr val="5A6A5A"/>
                </a:solidFill>
              </a:rPr>
              <a:t> sent to central server via Wi-Fi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43000"/>
            <a:ext cx="3749039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749039" cy="5029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⚙️ 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7373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</a:rPr>
              <a:t>FastAPI +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2240280"/>
            <a:ext cx="3429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5A6A5A"/>
                </a:solidFill>
              </a:rPr>
              <a:t>• Receives </a:t>
            </a:r>
            <a:r>
              <a:rPr lang="en-US" sz="2000" dirty="0">
                <a:solidFill>
                  <a:srgbClr val="5A6A5A"/>
                </a:solidFill>
              </a:rPr>
              <a:t>5</a:t>
            </a:r>
            <a:r>
              <a:rPr sz="2000" b="0" dirty="0">
                <a:solidFill>
                  <a:srgbClr val="5A6A5A"/>
                </a:solidFill>
              </a:rPr>
              <a:t>s audio clips</a:t>
            </a:r>
          </a:p>
          <a:p>
            <a:r>
              <a:rPr sz="2000" b="0" dirty="0">
                <a:solidFill>
                  <a:srgbClr val="5A6A5A"/>
                </a:solidFill>
              </a:rPr>
              <a:t>• Runs CNN prediction model</a:t>
            </a:r>
          </a:p>
          <a:p>
            <a:r>
              <a:rPr sz="2000" b="0" dirty="0">
                <a:solidFill>
                  <a:srgbClr val="5A6A5A"/>
                </a:solidFill>
              </a:rPr>
              <a:t>• Logs stored in PostgreSQL DB</a:t>
            </a:r>
          </a:p>
          <a:p>
            <a:r>
              <a:rPr sz="2000" b="0" dirty="0">
                <a:solidFill>
                  <a:srgbClr val="5A6A5A"/>
                </a:solidFill>
              </a:rPr>
              <a:t>• Audio files saved to disk</a:t>
            </a:r>
          </a:p>
          <a:p>
            <a:r>
              <a:rPr sz="2000" b="0" dirty="0">
                <a:solidFill>
                  <a:srgbClr val="5A6A5A"/>
                </a:solidFill>
              </a:rPr>
              <a:t>• File path referenced in DB 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3749039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749039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7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7373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E5"/>
                </a:solidFill>
              </a:rPr>
              <a:t>React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611" y="2286000"/>
            <a:ext cx="3429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dirty="0">
                <a:solidFill>
                  <a:srgbClr val="5A6A5A"/>
                </a:solidFill>
              </a:rPr>
              <a:t>• </a:t>
            </a:r>
            <a:r>
              <a:rPr lang="en-US" sz="2000" b="0" dirty="0">
                <a:solidFill>
                  <a:srgbClr val="5A6A5A"/>
                </a:solidFill>
              </a:rPr>
              <a:t>Real-time device map (Google Maps)</a:t>
            </a:r>
          </a:p>
          <a:p>
            <a:r>
              <a:rPr lang="en-US" sz="2000" b="0" dirty="0">
                <a:solidFill>
                  <a:srgbClr val="5A6A5A"/>
                </a:solidFill>
              </a:rPr>
              <a:t>• Displays all IoT device locations</a:t>
            </a:r>
          </a:p>
          <a:p>
            <a:r>
              <a:rPr sz="2000" b="0" dirty="0">
                <a:solidFill>
                  <a:srgbClr val="5A6A5A"/>
                </a:solidFill>
              </a:rPr>
              <a:t>• Shows detection logs &amp; history</a:t>
            </a:r>
          </a:p>
          <a:p>
            <a:r>
              <a:rPr sz="2000" b="0" dirty="0">
                <a:solidFill>
                  <a:srgbClr val="5A6A5A"/>
                </a:solidFill>
              </a:rPr>
              <a:t>• Chainsaw alert notifications</a:t>
            </a:r>
          </a:p>
          <a:p>
            <a:r>
              <a:rPr sz="2000" b="0" dirty="0">
                <a:solidFill>
                  <a:srgbClr val="5A6A5A"/>
                </a:solidFill>
              </a:rPr>
              <a:t>• Audio playback from 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7368" y="3520440"/>
            <a:ext cx="118872" cy="54864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06240" y="3456432"/>
            <a:ext cx="146304" cy="201168"/>
          </a:xfrm>
          <a:prstGeom prst="round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73568" y="3520440"/>
            <a:ext cx="118872" cy="54864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92440" y="3456432"/>
            <a:ext cx="146304" cy="201168"/>
          </a:xfrm>
          <a:prstGeom prst="round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A6A5A"/>
                </a:solidFill>
              </a:rPr>
              <a:t>Two-stage recording minimizes bandwidth · Central DB as single source of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IoT Device &amp; Audio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CAF50"/>
                </a:solidFill>
              </a:rPr>
              <a:t>ESP32 Two-Stage Capture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148840" cy="3200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" y="1325880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8428" y="132588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965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CCEECC"/>
                </a:solidFill>
              </a:rPr>
              <a:t>Device in
continuous
passive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697480"/>
            <a:ext cx="155448" cy="54864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15768" y="1188720"/>
            <a:ext cx="2148840" cy="3200400"/>
          </a:xfrm>
          <a:prstGeom prst="rect">
            <a:avLst/>
          </a:prstGeom>
          <a:solidFill>
            <a:srgbClr val="1B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2716" y="1325880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2716" y="132588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2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788920"/>
            <a:ext cx="1965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CCEECC"/>
                </a:solidFill>
              </a:rPr>
              <a:t>Loud sound
triggers </a:t>
            </a:r>
            <a:r>
              <a:rPr lang="en-US" sz="1400" dirty="0">
                <a:solidFill>
                  <a:srgbClr val="CCEECC"/>
                </a:solidFill>
              </a:rPr>
              <a:t>5</a:t>
            </a:r>
            <a:r>
              <a:rPr sz="1400" b="0" i="0" dirty="0">
                <a:solidFill>
                  <a:srgbClr val="CCEECC"/>
                </a:solidFill>
              </a:rPr>
              <a:t>s
recording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2697480"/>
            <a:ext cx="155448" cy="54864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0056" y="1188720"/>
            <a:ext cx="2148840" cy="3200400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47004" y="1325880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7004" y="132588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2A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788920"/>
            <a:ext cx="1965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CCEECC"/>
                </a:solidFill>
              </a:rPr>
              <a:t>Suspicion
criterion
evaluated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2697480"/>
            <a:ext cx="155448" cy="54864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24344" y="1188720"/>
            <a:ext cx="2148840" cy="3200400"/>
          </a:xfrm>
          <a:prstGeom prst="rect">
            <a:avLst/>
          </a:prstGeom>
          <a:solidFill>
            <a:srgbClr val="E6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51292" y="1325880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51292" y="132588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2A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3" y="2788920"/>
            <a:ext cx="196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CCEECC"/>
                </a:solidFill>
              </a:rPr>
              <a:t>Pass? </a:t>
            </a:r>
            <a:r>
              <a:rPr lang="en-US" sz="1400" dirty="0">
                <a:solidFill>
                  <a:srgbClr val="CCEECC"/>
                </a:solidFill>
              </a:rPr>
              <a:t>Send 5</a:t>
            </a:r>
            <a:r>
              <a:rPr sz="1400" b="0" i="0" dirty="0">
                <a:solidFill>
                  <a:srgbClr val="CCEECC"/>
                </a:solidFill>
              </a:rPr>
              <a:t>s
clip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73184" y="2697480"/>
            <a:ext cx="155448" cy="54864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28632" y="1188720"/>
            <a:ext cx="2148840" cy="3200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55580" y="1325880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55580" y="132588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2A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TRANSMIT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2788920"/>
            <a:ext cx="1965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CCEECC"/>
                </a:solidFill>
              </a:rPr>
              <a:t>Clip uploaded
to central
server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617720"/>
            <a:ext cx="11338560" cy="1737360"/>
          </a:xfrm>
          <a:prstGeom prst="rect">
            <a:avLst/>
          </a:prstGeom>
          <a:solidFill>
            <a:srgbClr val="0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681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026"/>
                </a:solidFill>
              </a:rPr>
              <a:t>Design Rationale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1097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A5D6A7"/>
                </a:solidFill>
              </a:rPr>
              <a:t>Two-stage recording reduces unnecessary data transmission. Only clips passing the suspicion criterion (</a:t>
            </a:r>
            <a:r>
              <a:rPr lang="en-US" sz="1400" dirty="0">
                <a:solidFill>
                  <a:srgbClr val="A5D6A7"/>
                </a:solidFill>
              </a:rPr>
              <a:t>5</a:t>
            </a:r>
            <a:r>
              <a:rPr sz="1400" b="0" dirty="0">
                <a:solidFill>
                  <a:srgbClr val="A5D6A7"/>
                </a:solidFill>
              </a:rPr>
              <a:t>s pre-screen)</a:t>
            </a:r>
          </a:p>
          <a:p>
            <a:r>
              <a:rPr sz="1400" b="0" dirty="0">
                <a:solidFill>
                  <a:srgbClr val="A5D6A7"/>
                </a:solidFill>
              </a:rPr>
              <a:t>are </a:t>
            </a:r>
            <a:r>
              <a:rPr lang="en-US" sz="1400" dirty="0">
                <a:solidFill>
                  <a:srgbClr val="A5D6A7"/>
                </a:solidFill>
              </a:rPr>
              <a:t> sent to server</a:t>
            </a:r>
            <a:r>
              <a:rPr sz="1400" b="0" dirty="0">
                <a:solidFill>
                  <a:srgbClr val="A5D6A7"/>
                </a:solidFill>
              </a:rPr>
              <a:t>, conserving bandwidth in remote forest deployments. Each ESP32 node operates</a:t>
            </a:r>
          </a:p>
          <a:p>
            <a:r>
              <a:rPr sz="1400" b="0" dirty="0">
                <a:solidFill>
                  <a:srgbClr val="A5D6A7"/>
                </a:solidFill>
              </a:rPr>
              <a:t>autonomously in listening mode, requiring no constant connectivity — only transmitting when a potential threat is detected.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AI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560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4CAF50"/>
                </a:solidFill>
              </a:rPr>
              <a:t>Custom CNN — Mel Spectrogram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12064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38912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35024"/>
            <a:ext cx="43525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INPUT  (B, 1, 64, T) — Mel Spectrogram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93392"/>
            <a:ext cx="43891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4352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ConvBlock(1→32) + MaxPool2d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389120" cy="5029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352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ConvBlock(32→64) + MaxPool2d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10128"/>
            <a:ext cx="4389120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4352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ConvBlock(64→128) + MaxPool2d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68496"/>
            <a:ext cx="43891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986783"/>
            <a:ext cx="4352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ConvBlock(128→256) + MaxPool2d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00016"/>
            <a:ext cx="4389120" cy="4114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709160"/>
            <a:ext cx="4352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AdaptiveAvgPool2d → (4×4)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30368"/>
            <a:ext cx="438912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239512"/>
            <a:ext cx="4352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Dropout → Linear(4096→512) → ReLU → Dropout → Linear(512→2)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4389120" cy="4114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5769864"/>
            <a:ext cx="4352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OUTPUT: Chainsaw  /  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143000"/>
            <a:ext cx="598932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2160" y="1143000"/>
            <a:ext cx="164592" cy="1261872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12344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2A"/>
                </a:solidFill>
              </a:rPr>
              <a:t>Input Representation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618488"/>
            <a:ext cx="5577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5A6A5A"/>
                </a:solidFill>
              </a:rPr>
              <a:t>Raw </a:t>
            </a:r>
            <a:r>
              <a:rPr lang="en-US" sz="1400" dirty="0">
                <a:solidFill>
                  <a:srgbClr val="5A6A5A"/>
                </a:solidFill>
              </a:rPr>
              <a:t>5</a:t>
            </a:r>
            <a:r>
              <a:rPr sz="1400" b="0" dirty="0">
                <a:solidFill>
                  <a:srgbClr val="5A6A5A"/>
                </a:solidFill>
              </a:rPr>
              <a:t>s audio → Mel Spectrogram
Shape: (Batch, 1, 64, Time)
64 mel frequency bins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560320"/>
            <a:ext cx="598932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52160" y="2560320"/>
            <a:ext cx="164592" cy="1261872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44768" y="26517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ConvBlock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035808"/>
            <a:ext cx="5577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5A6A5A"/>
                </a:solidFill>
              </a:rPr>
              <a:t>Each block: Conv2d → </a:t>
            </a:r>
            <a:r>
              <a:rPr sz="1400" b="0" dirty="0" err="1">
                <a:solidFill>
                  <a:srgbClr val="5A6A5A"/>
                </a:solidFill>
              </a:rPr>
              <a:t>BatchNorm</a:t>
            </a:r>
            <a:r>
              <a:rPr sz="1400" b="0" dirty="0">
                <a:solidFill>
                  <a:srgbClr val="5A6A5A"/>
                </a:solidFill>
              </a:rPr>
              <a:t> →
</a:t>
            </a:r>
            <a:r>
              <a:rPr sz="1400" b="0" dirty="0" err="1">
                <a:solidFill>
                  <a:srgbClr val="5A6A5A"/>
                </a:solidFill>
              </a:rPr>
              <a:t>ReLU</a:t>
            </a:r>
            <a:r>
              <a:rPr sz="1400" b="0" dirty="0">
                <a:solidFill>
                  <a:srgbClr val="5A6A5A"/>
                </a:solidFill>
              </a:rPr>
              <a:t> → Conv2d → </a:t>
            </a:r>
            <a:r>
              <a:rPr sz="1400" b="0" dirty="0" err="1">
                <a:solidFill>
                  <a:srgbClr val="5A6A5A"/>
                </a:solidFill>
              </a:rPr>
              <a:t>BatchNorm</a:t>
            </a:r>
            <a:r>
              <a:rPr sz="1400" b="0" dirty="0">
                <a:solidFill>
                  <a:srgbClr val="5A6A5A"/>
                </a:solidFill>
              </a:rPr>
              <a:t> → </a:t>
            </a:r>
            <a:r>
              <a:rPr sz="1400" b="0" dirty="0" err="1">
                <a:solidFill>
                  <a:srgbClr val="5A6A5A"/>
                </a:solidFill>
              </a:rPr>
              <a:t>ReLU</a:t>
            </a:r>
            <a:r>
              <a:rPr sz="1400" b="0" dirty="0">
                <a:solidFill>
                  <a:srgbClr val="5A6A5A"/>
                </a:solidFill>
              </a:rPr>
              <a:t>
+ MaxPool2d(2) for </a:t>
            </a:r>
            <a:r>
              <a:rPr sz="1400" b="0" dirty="0" err="1">
                <a:solidFill>
                  <a:srgbClr val="5A6A5A"/>
                </a:solidFill>
              </a:rPr>
              <a:t>downsampling</a:t>
            </a:r>
            <a:endParaRPr sz="1400" b="0" dirty="0">
              <a:solidFill>
                <a:srgbClr val="5A6A5A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52160" y="3977639"/>
            <a:ext cx="598932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52160" y="3977639"/>
            <a:ext cx="164592" cy="12618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4768" y="4069079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Classifier 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453127"/>
            <a:ext cx="5577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5A6A5A"/>
                </a:solidFill>
              </a:rPr>
              <a:t>Dropout(0.3) for regularization
256×4×4 → 512 → 2 classes
Outputs logits for cross-entropy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5394960"/>
            <a:ext cx="598932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52160" y="5394960"/>
            <a:ext cx="164592" cy="126187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4768" y="54864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</a:rPr>
              <a:t>Alert Trigger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5870448"/>
            <a:ext cx="5577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5A6A5A"/>
                </a:solidFill>
              </a:rPr>
              <a:t>If predicted class = Chainsaw
Server fires real-time alert
Dashboard highlighted + logged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Backend, Database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5603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4CAF50"/>
                </a:solidFill>
              </a:rPr>
              <a:t>FastAPI · PostgreSQL · React · Google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03320" cy="4892040"/>
          </a:xfrm>
          <a:prstGeom prst="rect">
            <a:avLst/>
          </a:prstGeom>
          <a:solidFill>
            <a:srgbClr val="0E2216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03320" cy="5303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61288"/>
            <a:ext cx="3429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FastAPI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596896"/>
            <a:ext cx="109728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49631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CAF50"/>
                </a:solidFill>
              </a:rPr>
              <a:t>Calls PyTorch CNN for 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3236976"/>
            <a:ext cx="109728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136391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CAF50"/>
                </a:solidFill>
              </a:rPr>
              <a:t>Writes detection log to 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877055"/>
            <a:ext cx="109728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77647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CAF50"/>
                </a:solidFill>
              </a:rPr>
              <a:t>Saves audio file to disk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4517136"/>
            <a:ext cx="109728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441655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CAF50"/>
                </a:solidFill>
              </a:rPr>
              <a:t>Stores file path in DB 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5157216"/>
            <a:ext cx="109728" cy="109728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505663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A026"/>
                </a:solidFill>
              </a:rPr>
              <a:t>Issues chainsaw alert if detected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143000"/>
            <a:ext cx="3703320" cy="4892040"/>
          </a:xfrm>
          <a:prstGeom prst="rect">
            <a:avLst/>
          </a:prstGeom>
          <a:solidFill>
            <a:srgbClr val="0E2216"/>
          </a:solidFill>
          <a:ln w="19050">
            <a:solidFill>
              <a:srgbClr val="01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1143000"/>
            <a:ext cx="3703320" cy="530352"/>
          </a:xfrm>
          <a:prstGeom prst="rect">
            <a:avLst/>
          </a:prstGeom>
          <a:solidFill>
            <a:srgbClr val="01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1161288"/>
            <a:ext cx="3429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🗄️  PostgreSQL 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1956816"/>
            <a:ext cx="109728" cy="109728"/>
          </a:xfrm>
          <a:prstGeom prst="rect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8" y="1856231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1D4FA"/>
                </a:solidFill>
              </a:rPr>
              <a:t>Logs table: device_id, timestamp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2596896"/>
            <a:ext cx="109728" cy="109728"/>
          </a:xfrm>
          <a:prstGeom prst="rect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8" y="249631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1D4FA"/>
                </a:solidFill>
              </a:rPr>
              <a:t>prediction, confidence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6552" y="3236976"/>
            <a:ext cx="109728" cy="109728"/>
          </a:xfrm>
          <a:prstGeom prst="rect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6008" y="3136391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1D4FA"/>
                </a:solidFill>
              </a:rPr>
              <a:t>audio_file_path (disk reference)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6552" y="3877055"/>
            <a:ext cx="109728" cy="109728"/>
          </a:xfrm>
          <a:prstGeom prst="rect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36008" y="377647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1D4FA"/>
                </a:solidFill>
              </a:rPr>
              <a:t>Devices table: location,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6552" y="4517136"/>
            <a:ext cx="109728" cy="109728"/>
          </a:xfrm>
          <a:prstGeom prst="rect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36008" y="441655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1D4FA"/>
                </a:solidFill>
              </a:rPr>
              <a:t>Alerts table: alert_type, resolved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6552" y="5157216"/>
            <a:ext cx="109728" cy="109728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36008" y="505663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C4FF"/>
                </a:solidFill>
              </a:rPr>
              <a:t>Index on timestamp for fast queries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1143000"/>
            <a:ext cx="3703320" cy="4892040"/>
          </a:xfrm>
          <a:prstGeom prst="rect">
            <a:avLst/>
          </a:prstGeom>
          <a:solidFill>
            <a:srgbClr val="0E2216"/>
          </a:solidFill>
          <a:ln w="19050"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83879" y="1143000"/>
            <a:ext cx="3703320" cy="530352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1161288"/>
            <a:ext cx="3429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🗺️  React Frontend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48471" y="1956816"/>
            <a:ext cx="109728" cy="109728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67928" y="1856231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80"/>
                </a:solidFill>
              </a:rPr>
              <a:t>Google Maps: live device markers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48471" y="2596896"/>
            <a:ext cx="109728" cy="109728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67928" y="249631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80"/>
                </a:solidFill>
              </a:rPr>
              <a:t>Colour-coded by alert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1" y="3236976"/>
            <a:ext cx="109728" cy="109728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67928" y="3136391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80"/>
                </a:solidFill>
              </a:rPr>
              <a:t>Detection log table with filters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48471" y="3877055"/>
            <a:ext cx="109728" cy="109728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67928" y="377647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80"/>
                </a:solidFill>
              </a:rPr>
              <a:t>Audio clip playback from logs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1" y="4517136"/>
            <a:ext cx="109728" cy="109728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67928" y="441655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A026"/>
                </a:solidFill>
              </a:rPr>
              <a:t>Real-time alert banner/toast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48471" y="5157216"/>
            <a:ext cx="109728" cy="109728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67928" y="505663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80"/>
                </a:solidFill>
              </a:rPr>
              <a:t>Device health / last-seen status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6172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2A"/>
                </a:solidFill>
              </a:rPr>
              <a:t>Chainsaw Detected  →  CNN flags prediction  →  FastAPI writes DB log  →  Alert fired  →  React dashboard highlights device on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598</Words>
  <Application>Microsoft Office PowerPoint</Application>
  <PresentationFormat>Custom</PresentationFormat>
  <Paragraphs>94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varshith sanka</cp:lastModifiedBy>
  <cp:revision>5</cp:revision>
  <dcterms:created xsi:type="dcterms:W3CDTF">2013-01-27T09:14:16Z</dcterms:created>
  <dcterms:modified xsi:type="dcterms:W3CDTF">2026-08-30T20:33:12Z</dcterms:modified>
  <cp:category/>
</cp:coreProperties>
</file>